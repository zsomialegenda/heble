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72" r:id="rId4"/>
  </p:sldMasterIdLst>
  <p:notesMasterIdLst>
    <p:notesMasterId r:id="rId22"/>
  </p:notesMasterIdLst>
  <p:handoutMasterIdLst>
    <p:handoutMasterId r:id="rId23"/>
  </p:handoutMasterIdLst>
  <p:sldIdLst>
    <p:sldId id="256" r:id="rId5"/>
    <p:sldId id="259" r:id="rId6"/>
    <p:sldId id="273" r:id="rId7"/>
    <p:sldId id="277" r:id="rId8"/>
    <p:sldId id="268" r:id="rId9"/>
    <p:sldId id="269" r:id="rId10"/>
    <p:sldId id="263" r:id="rId11"/>
    <p:sldId id="275" r:id="rId12"/>
    <p:sldId id="278" r:id="rId13"/>
    <p:sldId id="279" r:id="rId14"/>
    <p:sldId id="261" r:id="rId15"/>
    <p:sldId id="270" r:id="rId16"/>
    <p:sldId id="274" r:id="rId17"/>
    <p:sldId id="264" r:id="rId18"/>
    <p:sldId id="271" r:id="rId19"/>
    <p:sldId id="276" r:id="rId20"/>
    <p:sldId id="260" r:id="rId21"/>
  </p:sldIdLst>
  <p:sldSz cx="12192000" cy="6858000"/>
  <p:notesSz cx="6858000" cy="9144000"/>
  <p:defaultTextStyle>
    <a:defPPr rtl="0">
      <a:defRPr lang="h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Szerző" initials="S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48" autoAdjust="0"/>
  </p:normalViewPr>
  <p:slideViewPr>
    <p:cSldViewPr snapToGrid="0">
      <p:cViewPr varScale="1">
        <p:scale>
          <a:sx n="115" d="100"/>
          <a:sy n="115" d="100"/>
        </p:scale>
        <p:origin x="3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00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93CEAFEF-D834-49EB-A77B-83345F85117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F1788A5-C0DC-4854-9DA1-5799AAFF4F1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1BE138-59DE-4CCE-BC05-C8289F820A4F}" type="datetimeFigureOut">
              <a:rPr lang="hu-HU" smtClean="0"/>
              <a:t>2025. 03. 05.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BAE3DD13-D879-441F-AE1C-6AD1662438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9FEA87-2B0D-4F9A-834F-E75A9894115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A4EC7F-E669-4886-B0A7-2EB3B0147EDE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5334579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noProof="0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95DFAA-8151-43F1-8218-1A676C54611E}" type="datetimeFigureOut">
              <a:rPr lang="hu-HU" noProof="0" smtClean="0"/>
              <a:t>2025. 03. 05.</a:t>
            </a:fld>
            <a:endParaRPr lang="hu-HU" noProof="0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noProof="0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noProof="0"/>
              <a:t>Mintaszöveg szerkesztése</a:t>
            </a:r>
          </a:p>
          <a:p>
            <a:pPr lvl="1"/>
            <a:r>
              <a:rPr lang="hu-HU" noProof="0"/>
              <a:t>Második szint</a:t>
            </a:r>
          </a:p>
          <a:p>
            <a:pPr lvl="2"/>
            <a:r>
              <a:rPr lang="hu-HU" noProof="0"/>
              <a:t>Harmadik szint</a:t>
            </a:r>
          </a:p>
          <a:p>
            <a:pPr lvl="3"/>
            <a:r>
              <a:rPr lang="hu-HU" noProof="0"/>
              <a:t>Negyedik szint</a:t>
            </a:r>
          </a:p>
          <a:p>
            <a:pPr lvl="4"/>
            <a:r>
              <a:rPr lang="hu-HU" noProof="0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noProof="0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524CA7-A258-4620-B482-398C3E6E42F7}" type="slidenum">
              <a:rPr lang="hu-HU" noProof="0" smtClean="0"/>
              <a:t>‹#›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46441635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2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0142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3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454682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4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39357372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5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33427674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6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42568060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7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18973256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11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9284657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14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3369086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16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42045943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17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3128664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hu-HU" dirty="0"/>
              <a:t>Alcím mintájának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FB1095E-0207-45C6-91A7-AA5C0ECAF77D}" type="datetime1">
              <a:rPr lang="hu-HU" smtClean="0"/>
              <a:t>2025. 03. 05.</a:t>
            </a:fld>
            <a:endParaRPr lang="hu-HU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hu-HU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3E1A8F9-3D3D-4792-AC4D-78355299A20D}" type="datetime1">
              <a:rPr lang="hu-HU" smtClean="0"/>
              <a:t>2025. 03. 05.</a:t>
            </a:fld>
            <a:endParaRPr lang="hu-HU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286372C-2F48-413B-AB87-E0AE7CDBEFBC}" type="datetime1">
              <a:rPr lang="hu-HU" smtClean="0"/>
              <a:t>2025. 03. 05.</a:t>
            </a:fld>
            <a:endParaRPr lang="hu-HU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hu-HU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ét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10CA00-3C78-4E80-BDC4-943FCC4AA20A}" type="datetime1">
              <a:rPr lang="hu-HU" smtClean="0"/>
              <a:t>2025. 03. 05.</a:t>
            </a:fld>
            <a:endParaRPr lang="hu-HU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églalap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12" name="Cím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F7B5506-EDF0-4C3A-B830-BBF3F054EE2B}" type="datetime1">
              <a:rPr lang="hu-HU" smtClean="0"/>
              <a:t>2025. 03. 05.</a:t>
            </a:fld>
            <a:endParaRPr lang="hu-HU" dirty="0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236568C-8A71-4DEA-B6D3-725EA2FE6A31}" type="datetime1">
              <a:rPr lang="hu-HU" smtClean="0"/>
              <a:t>2025. 03. 05.</a:t>
            </a:fld>
            <a:endParaRPr lang="hu-HU" dirty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  <p:sp>
        <p:nvSpPr>
          <p:cNvPr id="7" name="Téglalap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8" name="Cím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hu-HU" dirty="0"/>
              <a:t>Mintacím stílusának szerkesztése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4F22219-BD99-403B-B9A4-C6480A94D55D}" type="datetime1">
              <a:rPr lang="hu-HU" smtClean="0"/>
              <a:t>2025. 03. 05.</a:t>
            </a:fld>
            <a:endParaRPr lang="hu-HU" dirty="0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B473D03-A039-40EB-A341-F1ED0C939856}" type="datetime1">
              <a:rPr lang="hu-HU" smtClean="0"/>
              <a:t>2025. 03. 05.</a:t>
            </a:fld>
            <a:endParaRPr lang="hu-HU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Kép helyőrzőj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hu-HU" dirty="0"/>
              <a:t>Kép hozzáadásához kattintson az ikonra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37667C1-242F-4547-A9A6-B56F8576423E}" type="datetime1">
              <a:rPr lang="hu-HU" smtClean="0"/>
              <a:t>2025. 03. 05.</a:t>
            </a:fld>
            <a:endParaRPr lang="hu-HU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9" name="Cím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780CFC7-DFD9-4A70-AE92-50385801C1DB}" type="datetime1">
              <a:rPr lang="hu-HU" smtClean="0"/>
              <a:t>2025. 03. 05.</a:t>
            </a:fld>
            <a:endParaRPr lang="hu-HU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Függőleges cím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AF943764-A5EE-4C69-9C74-87A2F85F0CB0}" type="datetime1">
              <a:rPr lang="hu-HU" smtClean="0"/>
              <a:t>2025. 03. 05.</a:t>
            </a:fld>
            <a:endParaRPr lang="hu-HU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hu-HU" dirty="0"/>
              <a:t>Mintaszöveg szerkesztése</a:t>
            </a:r>
          </a:p>
          <a:p>
            <a:pPr lvl="1" rtl="0"/>
            <a:r>
              <a:rPr lang="hu-HU" dirty="0"/>
              <a:t>Második szint</a:t>
            </a:r>
          </a:p>
          <a:p>
            <a:pPr lvl="2" rtl="0"/>
            <a:r>
              <a:rPr lang="hu-HU" dirty="0"/>
              <a:t>Harmadik szint</a:t>
            </a:r>
          </a:p>
          <a:p>
            <a:pPr lvl="3" rtl="0"/>
            <a:r>
              <a:rPr lang="hu-HU" dirty="0"/>
              <a:t>Negyedik szint</a:t>
            </a:r>
          </a:p>
          <a:p>
            <a:pPr lvl="4" rtl="0"/>
            <a:r>
              <a:rPr lang="hu-HU" dirty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7277D6DF-4495-474C-81A8-48F6F365AB90}" type="datetime1">
              <a:rPr lang="hu-HU" smtClean="0"/>
              <a:t>2025. 03. 05.</a:t>
            </a:fld>
            <a:endParaRPr lang="hu-HU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hu-HU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  <p:sp>
        <p:nvSpPr>
          <p:cNvPr id="9" name="Téglalap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10" name="Téglalap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11" name="Téglalap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Téglalap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pic>
        <p:nvPicPr>
          <p:cNvPr id="7" name="6. kép" descr="Digitális kapcsolatok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Csoport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Téglalap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Téglalap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Téglalap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r>
              <a:rPr lang="hu-HU" sz="4400" b="1" dirty="0">
                <a:solidFill>
                  <a:schemeClr val="bg1"/>
                </a:solidFill>
              </a:rPr>
              <a:t>School </a:t>
            </a:r>
            <a:r>
              <a:rPr lang="hu-HU" sz="4400" b="1" dirty="0" smtClean="0">
                <a:solidFill>
                  <a:schemeClr val="bg1"/>
                </a:solidFill>
              </a:rPr>
              <a:t>Project: HeBLE</a:t>
            </a:r>
            <a:endParaRPr lang="hu-HU" sz="7200" dirty="0">
              <a:solidFill>
                <a:schemeClr val="bg1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Autofit/>
          </a:bodyPr>
          <a:lstStyle/>
          <a:p>
            <a:r>
              <a:rPr lang="hu-HU" sz="2400" dirty="0" smtClean="0">
                <a:solidFill>
                  <a:srgbClr val="7CEBFF"/>
                </a:solidFill>
              </a:rPr>
              <a:t>Healthy body lifestyle</a:t>
            </a:r>
            <a:r>
              <a:rPr lang="hu-HU" sz="2400" dirty="0">
                <a:solidFill>
                  <a:srgbClr val="7CEBFF"/>
                </a:solidFill>
              </a:rPr>
              <a:t> entertainment</a:t>
            </a: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Téglalap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pic>
        <p:nvPicPr>
          <p:cNvPr id="8" name="Tartalom helye 4" descr="Digitális számok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Csoport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/>
            <a:r>
              <a:rPr lang="hu-HU" sz="3600" b="1" dirty="0" smtClean="0"/>
              <a:t>what is our project?</a:t>
            </a:r>
            <a:endParaRPr lang="hu-HU" sz="54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222305" y="2194697"/>
            <a:ext cx="5935187" cy="367830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hu-HU" sz="2800" b="1" dirty="0" smtClean="0">
                <a:solidFill>
                  <a:schemeClr val="bg1"/>
                </a:solidFill>
              </a:rPr>
              <a:t>We wanted to create something that </a:t>
            </a:r>
            <a:r>
              <a:rPr lang="hu-HU" sz="2800" b="1" dirty="0" smtClean="0">
                <a:solidFill>
                  <a:srgbClr val="FFFF00"/>
                </a:solidFill>
              </a:rPr>
              <a:t>motivate others to workout</a:t>
            </a:r>
            <a:r>
              <a:rPr lang="hu-HU" sz="2800" b="1" dirty="0" smtClean="0">
                <a:solidFill>
                  <a:schemeClr val="bg1"/>
                </a:solidFill>
              </a:rPr>
              <a:t>.</a:t>
            </a:r>
            <a:br>
              <a:rPr lang="hu-HU" sz="2800" b="1" dirty="0" smtClean="0">
                <a:solidFill>
                  <a:schemeClr val="bg1"/>
                </a:solidFill>
              </a:rPr>
            </a:br>
            <a:r>
              <a:rPr lang="hu-HU" sz="2800" b="1" dirty="0" smtClean="0">
                <a:solidFill>
                  <a:schemeClr val="bg1"/>
                </a:solidFill>
              </a:rPr>
              <a:t/>
            </a:r>
            <a:br>
              <a:rPr lang="hu-HU" sz="2800" b="1" dirty="0" smtClean="0">
                <a:solidFill>
                  <a:schemeClr val="bg1"/>
                </a:solidFill>
              </a:rPr>
            </a:br>
            <a:r>
              <a:rPr lang="hu-HU" sz="2800" b="1" dirty="0" smtClean="0">
                <a:solidFill>
                  <a:schemeClr val="bg1"/>
                </a:solidFill>
              </a:rPr>
              <a:t>By </a:t>
            </a:r>
            <a:r>
              <a:rPr lang="hu-HU" sz="2800" b="1" dirty="0" smtClean="0">
                <a:solidFill>
                  <a:srgbClr val="FFFF00"/>
                </a:solidFill>
              </a:rPr>
              <a:t>giving users different movement taks</a:t>
            </a:r>
            <a:r>
              <a:rPr lang="hu-HU" sz="2800" b="1" dirty="0" smtClean="0">
                <a:solidFill>
                  <a:schemeClr val="bg1"/>
                </a:solidFill>
              </a:rPr>
              <a:t>. </a:t>
            </a:r>
            <a:r>
              <a:rPr lang="hu-HU" sz="2800" b="1" dirty="0">
                <a:solidFill>
                  <a:schemeClr val="bg1"/>
                </a:solidFill>
              </a:rPr>
              <a:t> </a:t>
            </a:r>
            <a:r>
              <a:rPr lang="hu-HU" sz="2800" b="1" dirty="0" smtClean="0">
                <a:solidFill>
                  <a:schemeClr val="bg1"/>
                </a:solidFill>
              </a:rPr>
              <a:t>Users can </a:t>
            </a:r>
            <a:r>
              <a:rPr lang="hu-HU" sz="2800" b="1" dirty="0" smtClean="0">
                <a:solidFill>
                  <a:srgbClr val="FFFF00"/>
                </a:solidFill>
              </a:rPr>
              <a:t>earn experience points </a:t>
            </a:r>
            <a:r>
              <a:rPr lang="hu-HU" sz="2800" b="1" dirty="0" smtClean="0">
                <a:solidFill>
                  <a:schemeClr val="bg1"/>
                </a:solidFill>
              </a:rPr>
              <a:t>for </a:t>
            </a:r>
            <a:r>
              <a:rPr lang="hu-HU" sz="2800" b="1" dirty="0" smtClean="0">
                <a:solidFill>
                  <a:srgbClr val="FFFF00"/>
                </a:solidFill>
              </a:rPr>
              <a:t>completing these tasks</a:t>
            </a:r>
            <a:r>
              <a:rPr lang="hu-HU" sz="2800" b="1" dirty="0" smtClean="0">
                <a:solidFill>
                  <a:schemeClr val="bg1"/>
                </a:solidFill>
              </a:rPr>
              <a:t> and </a:t>
            </a:r>
            <a:r>
              <a:rPr lang="hu-HU" sz="2800" b="1" dirty="0" smtClean="0">
                <a:solidFill>
                  <a:srgbClr val="FFFF00"/>
                </a:solidFill>
              </a:rPr>
              <a:t>can level up</a:t>
            </a:r>
            <a:r>
              <a:rPr lang="hu-HU" sz="2800" b="1" dirty="0" smtClean="0">
                <a:solidFill>
                  <a:schemeClr val="bg1"/>
                </a:solidFill>
              </a:rPr>
              <a:t>, just like in a video game, keeping it fun.</a:t>
            </a:r>
          </a:p>
          <a:p>
            <a:pPr marL="0" indent="0">
              <a:buNone/>
            </a:pPr>
            <a:endParaRPr lang="hu-HU" sz="2800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hu-HU" sz="2800" b="1" dirty="0" smtClean="0">
                <a:solidFill>
                  <a:schemeClr val="bg1"/>
                </a:solidFill>
              </a:rPr>
              <a:t>We also have </a:t>
            </a:r>
            <a:r>
              <a:rPr lang="hu-HU" sz="2800" b="1" dirty="0" smtClean="0">
                <a:solidFill>
                  <a:srgbClr val="FFFF00"/>
                </a:solidFill>
              </a:rPr>
              <a:t>various free content available</a:t>
            </a:r>
            <a:r>
              <a:rPr lang="hu-HU" sz="2800" b="1" dirty="0" smtClean="0">
                <a:solidFill>
                  <a:schemeClr val="bg1"/>
                </a:solidFill>
              </a:rPr>
              <a:t> for users.</a:t>
            </a:r>
            <a:endParaRPr lang="hu-HU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Téglalap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pic>
        <p:nvPicPr>
          <p:cNvPr id="8" name="Tartalom helye 4" descr="Digitális számok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Csoport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Autofit/>
          </a:bodyPr>
          <a:lstStyle/>
          <a:p>
            <a:pPr algn="ctr"/>
            <a:r>
              <a:rPr lang="hu-HU" sz="3600" b="1" dirty="0"/>
              <a:t>Application Features</a:t>
            </a:r>
            <a:endParaRPr lang="hu-HU" sz="36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19681" y="2128827"/>
            <a:ext cx="6740435" cy="3744173"/>
          </a:xfrm>
        </p:spPr>
        <p:txBody>
          <a:bodyPr>
            <a:normAutofit fontScale="92500" lnSpcReduction="10000"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User </a:t>
            </a:r>
            <a:r>
              <a:rPr lang="en-US" sz="2800" b="1" dirty="0">
                <a:solidFill>
                  <a:srgbClr val="FFFF00"/>
                </a:solidFill>
              </a:rPr>
              <a:t>registration</a:t>
            </a:r>
            <a:r>
              <a:rPr lang="en-US" sz="2800" b="1" dirty="0">
                <a:solidFill>
                  <a:schemeClr val="bg1"/>
                </a:solidFill>
              </a:rPr>
              <a:t> and </a:t>
            </a:r>
            <a:r>
              <a:rPr lang="en-US" sz="2800" b="1" dirty="0">
                <a:solidFill>
                  <a:srgbClr val="FFFF00"/>
                </a:solidFill>
              </a:rPr>
              <a:t>login</a:t>
            </a:r>
          </a:p>
          <a:p>
            <a:r>
              <a:rPr lang="en-US" sz="2800" b="1" dirty="0">
                <a:solidFill>
                  <a:srgbClr val="FFFF00"/>
                </a:solidFill>
              </a:rPr>
              <a:t>Tracking</a:t>
            </a:r>
            <a:r>
              <a:rPr lang="en-US" sz="2800" b="1" dirty="0">
                <a:solidFill>
                  <a:schemeClr val="bg1"/>
                </a:solidFill>
              </a:rPr>
              <a:t> user </a:t>
            </a:r>
            <a:r>
              <a:rPr lang="en-US" sz="2800" b="1" dirty="0">
                <a:solidFill>
                  <a:srgbClr val="FFFF00"/>
                </a:solidFill>
              </a:rPr>
              <a:t>workouts</a:t>
            </a:r>
          </a:p>
          <a:p>
            <a:r>
              <a:rPr lang="en-US" sz="2800" b="1" dirty="0">
                <a:solidFill>
                  <a:srgbClr val="FFFF00"/>
                </a:solidFill>
              </a:rPr>
              <a:t>Suggestions</a:t>
            </a:r>
            <a:r>
              <a:rPr lang="en-US" sz="2800" b="1" dirty="0">
                <a:solidFill>
                  <a:schemeClr val="bg1"/>
                </a:solidFill>
              </a:rPr>
              <a:t> for a </a:t>
            </a:r>
            <a:r>
              <a:rPr lang="en-US" sz="2800" b="1" dirty="0">
                <a:solidFill>
                  <a:srgbClr val="FFFF00"/>
                </a:solidFill>
              </a:rPr>
              <a:t>healthier lifestyle</a:t>
            </a:r>
            <a:r>
              <a:rPr lang="en-US" sz="2800" b="1" dirty="0">
                <a:solidFill>
                  <a:schemeClr val="bg1"/>
                </a:solidFill>
              </a:rPr>
              <a:t> (diet, workout tips, etc.)</a:t>
            </a:r>
          </a:p>
          <a:p>
            <a:r>
              <a:rPr lang="en-US" sz="2800" b="1" dirty="0">
                <a:solidFill>
                  <a:srgbClr val="FFFF00"/>
                </a:solidFill>
              </a:rPr>
              <a:t>Earning points</a:t>
            </a:r>
            <a:r>
              <a:rPr lang="en-US" sz="2800" b="1" dirty="0">
                <a:solidFill>
                  <a:schemeClr val="bg1"/>
                </a:solidFill>
              </a:rPr>
              <a:t> based on your workouts</a:t>
            </a:r>
          </a:p>
          <a:p>
            <a:r>
              <a:rPr lang="en-US" sz="2800" b="1" dirty="0">
                <a:solidFill>
                  <a:schemeClr val="bg1"/>
                </a:solidFill>
              </a:rPr>
              <a:t>This way you can </a:t>
            </a:r>
            <a:r>
              <a:rPr lang="en-US" sz="2800" b="1" dirty="0">
                <a:solidFill>
                  <a:srgbClr val="FFFF00"/>
                </a:solidFill>
              </a:rPr>
              <a:t>make progress</a:t>
            </a:r>
            <a:r>
              <a:rPr lang="en-US" sz="2800" b="1" dirty="0">
                <a:solidFill>
                  <a:schemeClr val="bg1"/>
                </a:solidFill>
              </a:rPr>
              <a:t>, which allows you to </a:t>
            </a:r>
            <a:r>
              <a:rPr lang="en-US" sz="2800" b="1" dirty="0">
                <a:solidFill>
                  <a:srgbClr val="FFFF00"/>
                </a:solidFill>
              </a:rPr>
              <a:t>get various rewards </a:t>
            </a:r>
            <a:r>
              <a:rPr lang="en-US" sz="2800" b="1" dirty="0">
                <a:solidFill>
                  <a:schemeClr val="bg1"/>
                </a:solidFill>
              </a:rPr>
              <a:t>and </a:t>
            </a:r>
            <a:r>
              <a:rPr lang="en-US" sz="2800" b="1" dirty="0">
                <a:solidFill>
                  <a:srgbClr val="FFFF00"/>
                </a:solidFill>
              </a:rPr>
              <a:t>achieve achievements</a:t>
            </a:r>
            <a:r>
              <a:rPr lang="en-US" sz="2800" b="1" dirty="0" smtClean="0">
                <a:solidFill>
                  <a:schemeClr val="bg1"/>
                </a:solidFill>
              </a:rPr>
              <a:t>.</a:t>
            </a:r>
            <a:endParaRPr lang="en-US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0644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Téglalap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pic>
        <p:nvPicPr>
          <p:cNvPr id="8" name="Tartalom helye 4" descr="Digitális számok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Csoport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/>
            <a:r>
              <a:rPr lang="hu-HU" sz="3600" b="1" dirty="0"/>
              <a:t>Members of our team</a:t>
            </a:r>
            <a:endParaRPr lang="hu-HU" sz="54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2026403" y="1829250"/>
            <a:ext cx="4653367" cy="3678303"/>
          </a:xfrm>
        </p:spPr>
        <p:txBody>
          <a:bodyPr>
            <a:normAutofit/>
          </a:bodyPr>
          <a:lstStyle/>
          <a:p>
            <a:r>
              <a:rPr lang="hu-HU" sz="2800" b="1" dirty="0" smtClean="0">
                <a:solidFill>
                  <a:srgbClr val="FFFF00"/>
                </a:solidFill>
              </a:rPr>
              <a:t>János Bence Dakos</a:t>
            </a:r>
            <a:r>
              <a:rPr lang="hu-HU" sz="2800" b="1" dirty="0">
                <a:solidFill>
                  <a:schemeClr val="bg1"/>
                </a:solidFill>
              </a:rPr>
              <a:t>, Frontend developing </a:t>
            </a:r>
            <a:endParaRPr lang="hu-HU" sz="2800" b="1" dirty="0" smtClean="0">
              <a:solidFill>
                <a:schemeClr val="bg1"/>
              </a:solidFill>
            </a:endParaRPr>
          </a:p>
          <a:p>
            <a:r>
              <a:rPr lang="hu-HU" sz="2800" b="1" dirty="0">
                <a:solidFill>
                  <a:srgbClr val="FFFF00"/>
                </a:solidFill>
              </a:rPr>
              <a:t>Gergő Fodor</a:t>
            </a:r>
            <a:r>
              <a:rPr lang="hu-HU" sz="2800" b="1" dirty="0">
                <a:solidFill>
                  <a:schemeClr val="bg1"/>
                </a:solidFill>
              </a:rPr>
              <a:t>, </a:t>
            </a:r>
            <a:endParaRPr lang="hu-HU" sz="2800" b="1" dirty="0" smtClean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hu-HU" sz="2800" b="1" dirty="0">
                <a:solidFill>
                  <a:srgbClr val="FFFF00"/>
                </a:solidFill>
              </a:rPr>
              <a:t> </a:t>
            </a:r>
            <a:r>
              <a:rPr lang="hu-HU" sz="2800" b="1" dirty="0" smtClean="0">
                <a:solidFill>
                  <a:srgbClr val="FFFF00"/>
                </a:solidFill>
              </a:rPr>
              <a:t>  </a:t>
            </a:r>
            <a:r>
              <a:rPr lang="hu-HU" sz="2800" b="1" dirty="0" smtClean="0">
                <a:solidFill>
                  <a:schemeClr val="bg1"/>
                </a:solidFill>
              </a:rPr>
              <a:t>Frontend developing</a:t>
            </a:r>
            <a:endParaRPr lang="hu-HU" sz="2800" b="1" dirty="0">
              <a:solidFill>
                <a:schemeClr val="bg1"/>
              </a:solidFill>
            </a:endParaRPr>
          </a:p>
          <a:p>
            <a:r>
              <a:rPr lang="hu-HU" sz="2800" b="1" dirty="0" smtClean="0">
                <a:solidFill>
                  <a:srgbClr val="FFFF00"/>
                </a:solidFill>
              </a:rPr>
              <a:t>Patrik András Sedlák</a:t>
            </a:r>
            <a:r>
              <a:rPr lang="hu-HU" sz="2800" b="1" dirty="0">
                <a:solidFill>
                  <a:schemeClr val="bg1"/>
                </a:solidFill>
              </a:rPr>
              <a:t>, Backend </a:t>
            </a:r>
            <a:r>
              <a:rPr lang="hu-HU" sz="2800" b="1" dirty="0" smtClean="0">
                <a:solidFill>
                  <a:schemeClr val="bg1"/>
                </a:solidFill>
              </a:rPr>
              <a:t>developing</a:t>
            </a:r>
            <a:endParaRPr lang="hu-HU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801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Téglalap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pic>
        <p:nvPicPr>
          <p:cNvPr id="8" name="Tartalom helye 4" descr="Digitális számok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Csoport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20" y="510988"/>
            <a:ext cx="7213600" cy="1121871"/>
          </a:xfrm>
        </p:spPr>
        <p:txBody>
          <a:bodyPr rtlCol="0" anchor="ctr">
            <a:normAutofit/>
          </a:bodyPr>
          <a:lstStyle/>
          <a:p>
            <a:pPr algn="ctr"/>
            <a:r>
              <a:rPr lang="hu-HU" sz="3600" b="1" dirty="0"/>
              <a:t>Technologies  Used</a:t>
            </a:r>
            <a:endParaRPr lang="hu-HU" sz="54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635020" y="1864906"/>
            <a:ext cx="6601004" cy="3678303"/>
          </a:xfrm>
        </p:spPr>
        <p:txBody>
          <a:bodyPr/>
          <a:lstStyle/>
          <a:p>
            <a:r>
              <a:rPr lang="hu-HU" sz="2400" b="1" dirty="0">
                <a:solidFill>
                  <a:srgbClr val="FFFF00"/>
                </a:solidFill>
              </a:rPr>
              <a:t>Frontend: </a:t>
            </a:r>
            <a:r>
              <a:rPr lang="hu-HU" sz="2400" dirty="0">
                <a:solidFill>
                  <a:schemeClr val="bg1"/>
                </a:solidFill>
              </a:rPr>
              <a:t>Angular 19</a:t>
            </a:r>
          </a:p>
          <a:p>
            <a:r>
              <a:rPr lang="hu-HU" sz="2400" b="1" dirty="0">
                <a:solidFill>
                  <a:srgbClr val="FFFF00"/>
                </a:solidFill>
              </a:rPr>
              <a:t>Backend: </a:t>
            </a:r>
            <a:r>
              <a:rPr lang="hu-HU" sz="2400" dirty="0">
                <a:solidFill>
                  <a:schemeClr val="bg1"/>
                </a:solidFill>
              </a:rPr>
              <a:t>NodeJS</a:t>
            </a:r>
          </a:p>
          <a:p>
            <a:pPr lvl="1"/>
            <a:r>
              <a:rPr lang="hu-HU" sz="2400" b="1" dirty="0">
                <a:solidFill>
                  <a:srgbClr val="FFFF00"/>
                </a:solidFill>
              </a:rPr>
              <a:t>Packages: </a:t>
            </a:r>
            <a:r>
              <a:rPr lang="hu-HU" sz="2800" dirty="0">
                <a:solidFill>
                  <a:schemeClr val="bg1"/>
                </a:solidFill>
              </a:rPr>
              <a:t>argon2, bcrypt, bcryptjs, cors, dotenv, express, express-validator, mysql2, nodemon, </a:t>
            </a:r>
            <a:r>
              <a:rPr lang="hu-HU" sz="2800" dirty="0" smtClean="0">
                <a:solidFill>
                  <a:schemeClr val="bg1"/>
                </a:solidFill>
              </a:rPr>
              <a:t>sequelize and more...</a:t>
            </a:r>
            <a:endParaRPr lang="hu-HU" sz="2800" dirty="0">
              <a:solidFill>
                <a:schemeClr val="bg1"/>
              </a:solidFill>
            </a:endParaRPr>
          </a:p>
          <a:p>
            <a:r>
              <a:rPr lang="hu-HU" sz="2400" b="1" dirty="0">
                <a:solidFill>
                  <a:srgbClr val="FFFF00"/>
                </a:solidFill>
              </a:rPr>
              <a:t>Database</a:t>
            </a:r>
            <a:r>
              <a:rPr lang="hu-HU" sz="2400" dirty="0">
                <a:solidFill>
                  <a:srgbClr val="FFFF00"/>
                </a:solidFill>
              </a:rPr>
              <a:t>: </a:t>
            </a:r>
            <a:r>
              <a:rPr lang="hu-HU" sz="2400" dirty="0">
                <a:solidFill>
                  <a:schemeClr val="bg1"/>
                </a:solidFill>
              </a:rPr>
              <a:t>MySQL (MariaDB) [XAMPP]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11" name="Kép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85" y="4967889"/>
            <a:ext cx="1301316" cy="1380608"/>
          </a:xfrm>
          <a:prstGeom prst="rect">
            <a:avLst/>
          </a:prstGeom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8820" y="4916722"/>
            <a:ext cx="2347088" cy="1431775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7393" y="4532320"/>
            <a:ext cx="1749704" cy="1755800"/>
          </a:xfrm>
          <a:prstGeom prst="rect">
            <a:avLst/>
          </a:prstGeom>
        </p:spPr>
      </p:pic>
      <p:sp>
        <p:nvSpPr>
          <p:cNvPr id="4" name="Szövegdoboz 3"/>
          <p:cNvSpPr txBox="1"/>
          <p:nvPr/>
        </p:nvSpPr>
        <p:spPr>
          <a:xfrm>
            <a:off x="2873207" y="1587244"/>
            <a:ext cx="29222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 smtClean="0">
                <a:solidFill>
                  <a:schemeClr val="bg1"/>
                </a:solidFill>
              </a:rPr>
              <a:t>Used for coding:</a:t>
            </a:r>
            <a:endParaRPr lang="hu-HU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3436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Téglalap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pic>
        <p:nvPicPr>
          <p:cNvPr id="8" name="Tartalom helye 4" descr="Digitális számok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Csoport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20" y="510988"/>
            <a:ext cx="7213600" cy="1121871"/>
          </a:xfrm>
        </p:spPr>
        <p:txBody>
          <a:bodyPr rtlCol="0" anchor="ctr">
            <a:normAutofit/>
          </a:bodyPr>
          <a:lstStyle/>
          <a:p>
            <a:pPr algn="ctr"/>
            <a:r>
              <a:rPr lang="hu-HU" sz="3600" b="1" dirty="0"/>
              <a:t>Technologies  Used</a:t>
            </a:r>
            <a:endParaRPr lang="hu-HU" sz="54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83099" y="1931892"/>
            <a:ext cx="4861260" cy="4038602"/>
          </a:xfrm>
        </p:spPr>
        <p:txBody>
          <a:bodyPr>
            <a:normAutofit/>
          </a:bodyPr>
          <a:lstStyle/>
          <a:p>
            <a:r>
              <a:rPr lang="hu-HU" sz="2400" b="1" dirty="0" smtClean="0">
                <a:solidFill>
                  <a:srgbClr val="FFFF00"/>
                </a:solidFill>
              </a:rPr>
              <a:t>Teamwork software: </a:t>
            </a:r>
            <a:r>
              <a:rPr lang="hu-HU" sz="2400" dirty="0" smtClean="0">
                <a:solidFill>
                  <a:schemeClr val="bg1"/>
                </a:solidFill>
              </a:rPr>
              <a:t>Trello, GitHub</a:t>
            </a:r>
          </a:p>
          <a:p>
            <a:endParaRPr lang="hu-HU" sz="24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hu-HU" sz="2400" dirty="0">
              <a:solidFill>
                <a:schemeClr val="bg1"/>
              </a:solidFill>
            </a:endParaRPr>
          </a:p>
          <a:p>
            <a:r>
              <a:rPr lang="hu-HU" sz="2400" b="1" dirty="0" smtClean="0">
                <a:solidFill>
                  <a:srgbClr val="FFFF00"/>
                </a:solidFill>
              </a:rPr>
              <a:t>Image design and editint software: </a:t>
            </a:r>
            <a:r>
              <a:rPr lang="hu-HU" sz="2400" dirty="0">
                <a:solidFill>
                  <a:schemeClr val="bg1"/>
                </a:solidFill>
              </a:rPr>
              <a:t> </a:t>
            </a:r>
            <a:r>
              <a:rPr lang="hu-HU" sz="2400" dirty="0" smtClean="0">
                <a:solidFill>
                  <a:schemeClr val="bg1"/>
                </a:solidFill>
              </a:rPr>
              <a:t>Adobe Photoshop, Canva</a:t>
            </a:r>
            <a:endParaRPr lang="hu-HU" sz="24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hu-HU" dirty="0"/>
          </a:p>
        </p:txBody>
      </p:sp>
      <p:sp>
        <p:nvSpPr>
          <p:cNvPr id="4" name="Szövegdoboz 3"/>
          <p:cNvSpPr txBox="1"/>
          <p:nvPr/>
        </p:nvSpPr>
        <p:spPr>
          <a:xfrm>
            <a:off x="1926426" y="1600855"/>
            <a:ext cx="45269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</a:rPr>
              <a:t>Other development tools:</a:t>
            </a:r>
          </a:p>
        </p:txBody>
      </p:sp>
      <p:pic>
        <p:nvPicPr>
          <p:cNvPr id="1028" name="Picture 4" descr="Trello Logo Black and White – Brands Logo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660" y="2757198"/>
            <a:ext cx="1343601" cy="1343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9728" y="2639564"/>
            <a:ext cx="1557865" cy="1578870"/>
          </a:xfrm>
          <a:prstGeom prst="rect">
            <a:avLst/>
          </a:prstGeom>
        </p:spPr>
      </p:pic>
      <p:pic>
        <p:nvPicPr>
          <p:cNvPr id="1026" name="Picture 2" descr="Download Photoshop, Photoshop Logo, Photoshop Icon. Royalty-Free Vector  Graphic - Pixabay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4830" y="4965150"/>
            <a:ext cx="1338798" cy="1304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44359" y="4531524"/>
            <a:ext cx="1504840" cy="150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95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Téglalap 21">
            <a:extLst>
              <a:ext uri="{FF2B5EF4-FFF2-40B4-BE49-F238E27FC236}">
                <a16:creationId xmlns:a16="http://schemas.microsoft.com/office/drawing/2014/main" id="{BFDA9692-ECDC-4B59-86B2-8C90FDE1A05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sp>
        <p:nvSpPr>
          <p:cNvPr id="24" name="Téglalap 23">
            <a:extLst>
              <a:ext uri="{FF2B5EF4-FFF2-40B4-BE49-F238E27FC236}">
                <a16:creationId xmlns:a16="http://schemas.microsoft.com/office/drawing/2014/main" id="{12C05506-42A1-49C0-9D87-081CCD9023D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B040558-A365-4CCE-92FA-5A48CD98F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39" y="5369332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hu-HU" sz="3200" b="1" dirty="0" smtClean="0">
                <a:solidFill>
                  <a:srgbClr val="FFFEFF"/>
                </a:solidFill>
              </a:rPr>
              <a:t>gERGŐ’s  WORK</a:t>
            </a:r>
            <a:endParaRPr lang="hu-HU" sz="3200" b="1" dirty="0">
              <a:solidFill>
                <a:srgbClr val="FFFEFF"/>
              </a:solidFill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364689" y="541409"/>
            <a:ext cx="3649858" cy="44673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hu-HU" sz="3200" b="1" dirty="0">
                <a:solidFill>
                  <a:srgbClr val="002060"/>
                </a:solidFill>
              </a:rPr>
              <a:t>Frontend: </a:t>
            </a:r>
            <a:r>
              <a:rPr lang="hu-HU" sz="3200" b="1" dirty="0" smtClean="0">
                <a:solidFill>
                  <a:srgbClr val="002060"/>
                </a:solidFill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The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2060"/>
                </a:solidFill>
              </a:rPr>
              <a:t>development environment</a:t>
            </a:r>
            <a:r>
              <a:rPr lang="en-US" sz="2400" dirty="0">
                <a:solidFill>
                  <a:srgbClr val="002060"/>
                </a:solidFill>
              </a:rPr>
              <a:t> </a:t>
            </a:r>
            <a:r>
              <a:rPr lang="hu-HU" sz="2400" dirty="0" smtClean="0">
                <a:solidFill>
                  <a:schemeClr val="tx1"/>
                </a:solidFill>
              </a:rPr>
              <a:t>was</a:t>
            </a:r>
            <a:r>
              <a:rPr lang="hu-HU" sz="2400" dirty="0" smtClean="0"/>
              <a:t> </a:t>
            </a:r>
            <a:r>
              <a:rPr lang="en-US" sz="2400" b="1" dirty="0" smtClean="0">
                <a:solidFill>
                  <a:srgbClr val="002060"/>
                </a:solidFill>
              </a:rPr>
              <a:t>Visual </a:t>
            </a:r>
            <a:r>
              <a:rPr lang="en-US" sz="2400" b="1" dirty="0">
                <a:solidFill>
                  <a:srgbClr val="002060"/>
                </a:solidFill>
              </a:rPr>
              <a:t>Studio Code</a:t>
            </a:r>
            <a:r>
              <a:rPr lang="en-US" sz="2400" dirty="0">
                <a:solidFill>
                  <a:schemeClr val="tx1"/>
                </a:solidFill>
              </a:rPr>
              <a:t>, we used it throughout our school studies, so it was what we knew best. </a:t>
            </a:r>
            <a:endParaRPr lang="hu-HU" sz="2400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sz="2400" dirty="0" smtClean="0">
                <a:solidFill>
                  <a:schemeClr val="tx1"/>
                </a:solidFill>
              </a:rPr>
              <a:t>The</a:t>
            </a:r>
            <a:r>
              <a:rPr lang="en-US" sz="2400" dirty="0" smtClean="0"/>
              <a:t> </a:t>
            </a:r>
            <a:r>
              <a:rPr lang="en-US" sz="2400" b="1" dirty="0">
                <a:solidFill>
                  <a:srgbClr val="002060"/>
                </a:solidFill>
              </a:rPr>
              <a:t>framework</a:t>
            </a:r>
            <a:r>
              <a:rPr lang="en-US" sz="2400" dirty="0"/>
              <a:t> </a:t>
            </a:r>
            <a:r>
              <a:rPr lang="hu-HU" sz="2400" dirty="0" smtClean="0">
                <a:solidFill>
                  <a:schemeClr val="tx1"/>
                </a:solidFill>
              </a:rPr>
              <a:t>was</a:t>
            </a:r>
            <a:r>
              <a:rPr lang="hu-HU" sz="2400" dirty="0" smtClean="0"/>
              <a:t> </a:t>
            </a:r>
            <a:r>
              <a:rPr lang="en-US" sz="2400" b="1" dirty="0" smtClean="0">
                <a:solidFill>
                  <a:srgbClr val="002060"/>
                </a:solidFill>
              </a:rPr>
              <a:t>Angular</a:t>
            </a:r>
            <a:r>
              <a:rPr lang="hu-HU" sz="2400" dirty="0" smtClean="0">
                <a:solidFill>
                  <a:schemeClr val="tx1"/>
                </a:solidFill>
              </a:rPr>
              <a:t>. (</a:t>
            </a:r>
            <a:r>
              <a:rPr lang="en-US" sz="2400" dirty="0" smtClean="0">
                <a:solidFill>
                  <a:schemeClr val="tx1"/>
                </a:solidFill>
              </a:rPr>
              <a:t>version </a:t>
            </a:r>
            <a:r>
              <a:rPr lang="en-US" sz="2400" b="1" dirty="0" smtClean="0">
                <a:solidFill>
                  <a:srgbClr val="002060"/>
                </a:solidFill>
              </a:rPr>
              <a:t>19</a:t>
            </a:r>
            <a:r>
              <a:rPr lang="hu-HU" sz="2400" dirty="0" smtClean="0">
                <a:solidFill>
                  <a:schemeClr val="tx1"/>
                </a:solidFill>
              </a:rPr>
              <a:t>)</a:t>
            </a:r>
            <a:endParaRPr lang="hu-HU" sz="2400" dirty="0">
              <a:solidFill>
                <a:schemeClr val="tx1"/>
              </a:solidFill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4912" y="799505"/>
            <a:ext cx="7503765" cy="560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164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Gergő’s work in details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81192" y="1678752"/>
            <a:ext cx="7869827" cy="5311833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We wanted our website to be fully responsive, so we focused on achieving this using CSS</a:t>
            </a:r>
            <a:r>
              <a:rPr lang="hu-HU" sz="2400" dirty="0">
                <a:solidFill>
                  <a:schemeClr val="tx1"/>
                </a:solidFill>
              </a:rPr>
              <a:t> elements</a:t>
            </a:r>
            <a:r>
              <a:rPr lang="en-US" sz="2400" dirty="0">
                <a:solidFill>
                  <a:schemeClr val="tx1"/>
                </a:solidFill>
              </a:rPr>
              <a:t> and Bootstrap. </a:t>
            </a:r>
            <a:r>
              <a:rPr lang="hu-HU" sz="2400" dirty="0">
                <a:solidFill>
                  <a:schemeClr val="tx1"/>
                </a:solidFill>
              </a:rPr>
              <a:t> I used different</a:t>
            </a:r>
            <a:r>
              <a:rPr lang="en-US" sz="2400" dirty="0">
                <a:solidFill>
                  <a:schemeClr val="tx1"/>
                </a:solidFill>
              </a:rPr>
              <a:t> Bootstrap </a:t>
            </a:r>
            <a:r>
              <a:rPr lang="hu-HU" sz="2400" dirty="0">
                <a:solidFill>
                  <a:schemeClr val="tx1"/>
                </a:solidFill>
              </a:rPr>
              <a:t>pre-made components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endParaRPr lang="hu-HU" sz="2400" dirty="0">
              <a:solidFill>
                <a:schemeClr val="tx1"/>
              </a:solidFill>
            </a:endParaRPr>
          </a:p>
          <a:p>
            <a:r>
              <a:rPr lang="en-US" sz="2400" dirty="0" smtClean="0">
                <a:solidFill>
                  <a:schemeClr val="tx1"/>
                </a:solidFill>
              </a:rPr>
              <a:t>The </a:t>
            </a:r>
            <a:r>
              <a:rPr lang="en-US" sz="2400" dirty="0">
                <a:solidFill>
                  <a:schemeClr val="tx1"/>
                </a:solidFill>
              </a:rPr>
              <a:t>static appearance of the web application and its content.</a:t>
            </a:r>
            <a:r>
              <a:rPr lang="hu-HU" sz="2400" dirty="0">
                <a:solidFill>
                  <a:schemeClr val="tx1"/>
                </a:solidFill>
              </a:rPr>
              <a:t>  This includes the navbar and footer along with their elements (contact and about us), the landing page, the free content.</a:t>
            </a:r>
          </a:p>
          <a:p>
            <a:r>
              <a:rPr lang="hu-HU" sz="2400" dirty="0" smtClean="0">
                <a:solidFill>
                  <a:schemeClr val="tx1"/>
                </a:solidFill>
              </a:rPr>
              <a:t>Some dynamic functions, like signup</a:t>
            </a:r>
            <a:r>
              <a:rPr lang="hu-HU" sz="2400" dirty="0">
                <a:solidFill>
                  <a:schemeClr val="tx1"/>
                </a:solidFill>
              </a:rPr>
              <a:t> </a:t>
            </a:r>
            <a:r>
              <a:rPr lang="hu-HU" sz="2400" dirty="0" smtClean="0">
                <a:solidFill>
                  <a:schemeClr val="tx1"/>
                </a:solidFill>
              </a:rPr>
              <a:t>and login, authentication</a:t>
            </a:r>
            <a:endParaRPr lang="hu-HU" sz="2400" dirty="0">
              <a:solidFill>
                <a:schemeClr val="tx1"/>
              </a:solidFill>
            </a:endParaRPr>
          </a:p>
        </p:txBody>
      </p:sp>
      <p:pic>
        <p:nvPicPr>
          <p:cNvPr id="5" name="Tartalom hely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3038" y="3405188"/>
            <a:ext cx="1858962" cy="185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377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 smtClean="0"/>
              <a:t>gergő’s</a:t>
            </a:r>
            <a:r>
              <a:rPr lang="hu-HU" b="1" dirty="0" smtClean="0"/>
              <a:t> work in details</a:t>
            </a:r>
            <a:endParaRPr lang="hu-HU" b="1" dirty="0"/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513" y="1986839"/>
            <a:ext cx="5782445" cy="3050674"/>
          </a:xfr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7012" y="3682636"/>
            <a:ext cx="5782445" cy="3050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0202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gergő’s</a:t>
            </a:r>
            <a:r>
              <a:rPr lang="hu-HU" b="1" dirty="0"/>
              <a:t> </a:t>
            </a:r>
            <a:r>
              <a:rPr lang="hu-HU" b="1" dirty="0" err="1"/>
              <a:t>work</a:t>
            </a:r>
            <a:r>
              <a:rPr lang="hu-HU" b="1" dirty="0"/>
              <a:t> in </a:t>
            </a:r>
            <a:r>
              <a:rPr lang="hu-HU" b="1" dirty="0" err="1"/>
              <a:t>details</a:t>
            </a:r>
            <a:endParaRPr lang="hu-HU" dirty="0"/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95" y="1981719"/>
            <a:ext cx="6295654" cy="3230361"/>
          </a:xfr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2880" y="3469696"/>
            <a:ext cx="6326331" cy="3230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306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Téglalap 21">
            <a:extLst>
              <a:ext uri="{FF2B5EF4-FFF2-40B4-BE49-F238E27FC236}">
                <a16:creationId xmlns:a16="http://schemas.microsoft.com/office/drawing/2014/main" id="{BFDA9692-ECDC-4B59-86B2-8C90FDE1A05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sp>
        <p:nvSpPr>
          <p:cNvPr id="24" name="Téglalap 23">
            <a:extLst>
              <a:ext uri="{FF2B5EF4-FFF2-40B4-BE49-F238E27FC236}">
                <a16:creationId xmlns:a16="http://schemas.microsoft.com/office/drawing/2014/main" id="{12C05506-42A1-49C0-9D87-081CCD9023D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B040558-A365-4CCE-92FA-5A48CD98F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1" y="5411952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hu-HU" sz="3200" b="1" dirty="0" smtClean="0">
                <a:solidFill>
                  <a:srgbClr val="FFFEFF"/>
                </a:solidFill>
              </a:rPr>
              <a:t>Patrik’s  WORK</a:t>
            </a:r>
            <a:endParaRPr lang="hu-HU" sz="3200" b="1" dirty="0">
              <a:solidFill>
                <a:srgbClr val="FFFEFF"/>
              </a:solidFill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334687" y="866836"/>
            <a:ext cx="4465703" cy="431240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hu-HU" sz="3200" b="1" dirty="0" smtClean="0">
                <a:solidFill>
                  <a:srgbClr val="002060"/>
                </a:solidFill>
              </a:rPr>
              <a:t>Backend:</a:t>
            </a:r>
          </a:p>
          <a:p>
            <a:pPr marL="0" indent="0">
              <a:buNone/>
            </a:pPr>
            <a:r>
              <a:rPr lang="en-US" sz="2400" dirty="0" smtClean="0">
                <a:solidFill>
                  <a:schemeClr val="tx1"/>
                </a:solidFill>
              </a:rPr>
              <a:t>The</a:t>
            </a:r>
            <a:r>
              <a:rPr lang="en-US" sz="2400" b="1" dirty="0" smtClean="0">
                <a:solidFill>
                  <a:schemeClr val="tx1"/>
                </a:solidFill>
              </a:rPr>
              <a:t> </a:t>
            </a:r>
            <a:r>
              <a:rPr lang="en-US" sz="2400" b="1" dirty="0">
                <a:solidFill>
                  <a:srgbClr val="002060"/>
                </a:solidFill>
              </a:rPr>
              <a:t>development environment </a:t>
            </a:r>
            <a:r>
              <a:rPr lang="hu-HU" sz="2400" dirty="0" smtClean="0">
                <a:solidFill>
                  <a:schemeClr val="tx1"/>
                </a:solidFill>
              </a:rPr>
              <a:t>was also </a:t>
            </a:r>
            <a:r>
              <a:rPr lang="en-US" sz="2400" b="1" dirty="0" smtClean="0">
                <a:solidFill>
                  <a:srgbClr val="002060"/>
                </a:solidFill>
              </a:rPr>
              <a:t>Visual </a:t>
            </a:r>
            <a:r>
              <a:rPr lang="en-US" sz="2400" b="1" dirty="0">
                <a:solidFill>
                  <a:srgbClr val="002060"/>
                </a:solidFill>
              </a:rPr>
              <a:t>Studio Code</a:t>
            </a:r>
            <a:r>
              <a:rPr lang="en-US" sz="2400" dirty="0">
                <a:solidFill>
                  <a:schemeClr val="tx1"/>
                </a:solidFill>
              </a:rPr>
              <a:t>, and the </a:t>
            </a:r>
            <a:r>
              <a:rPr lang="en-US" sz="2400" b="1" dirty="0">
                <a:solidFill>
                  <a:srgbClr val="002060"/>
                </a:solidFill>
              </a:rPr>
              <a:t>server runtime environment</a:t>
            </a:r>
            <a:r>
              <a:rPr lang="en-US" sz="2400" b="1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used for project work </a:t>
            </a:r>
            <a:r>
              <a:rPr lang="hu-HU" sz="2400" dirty="0" smtClean="0">
                <a:solidFill>
                  <a:schemeClr val="tx1"/>
                </a:solidFill>
              </a:rPr>
              <a:t>was</a:t>
            </a:r>
            <a:r>
              <a:rPr lang="en-US" sz="2400" dirty="0" smtClean="0">
                <a:solidFill>
                  <a:schemeClr val="tx1"/>
                </a:solidFill>
              </a:rPr>
              <a:t> </a:t>
            </a:r>
            <a:r>
              <a:rPr lang="en-US" sz="2400" b="1" dirty="0">
                <a:solidFill>
                  <a:srgbClr val="002060"/>
                </a:solidFill>
              </a:rPr>
              <a:t>Node.JS</a:t>
            </a:r>
            <a:r>
              <a:rPr lang="en-US" sz="2400" dirty="0">
                <a:solidFill>
                  <a:schemeClr val="tx1"/>
                </a:solidFill>
              </a:rPr>
              <a:t>. </a:t>
            </a:r>
            <a:endParaRPr lang="hu-HU" sz="2400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hu-HU" sz="2400" dirty="0">
                <a:solidFill>
                  <a:schemeClr val="tx1"/>
                </a:solidFill>
              </a:rPr>
              <a:t>W</a:t>
            </a:r>
            <a:r>
              <a:rPr lang="en-US" sz="2400" dirty="0" smtClean="0">
                <a:solidFill>
                  <a:schemeClr val="tx1"/>
                </a:solidFill>
              </a:rPr>
              <a:t>e </a:t>
            </a:r>
            <a:r>
              <a:rPr lang="en-US" sz="2400" dirty="0">
                <a:solidFill>
                  <a:schemeClr val="tx1"/>
                </a:solidFill>
              </a:rPr>
              <a:t>used </a:t>
            </a:r>
            <a:r>
              <a:rPr lang="hu-HU" sz="2400" dirty="0" smtClean="0">
                <a:solidFill>
                  <a:schemeClr val="tx1"/>
                </a:solidFill>
              </a:rPr>
              <a:t>different existing </a:t>
            </a:r>
            <a:r>
              <a:rPr lang="en-US" sz="2400" b="1" dirty="0" smtClean="0">
                <a:solidFill>
                  <a:srgbClr val="002060"/>
                </a:solidFill>
              </a:rPr>
              <a:t>packages</a:t>
            </a:r>
            <a:r>
              <a:rPr lang="hu-HU" sz="2400" b="1" dirty="0" smtClean="0">
                <a:solidFill>
                  <a:schemeClr val="tx1"/>
                </a:solidFill>
              </a:rPr>
              <a:t> </a:t>
            </a:r>
            <a:r>
              <a:rPr lang="hu-HU" sz="2400" dirty="0" smtClean="0">
                <a:solidFill>
                  <a:schemeClr val="tx1"/>
                </a:solidFill>
              </a:rPr>
              <a:t>(</a:t>
            </a:r>
            <a:r>
              <a:rPr lang="en-US" sz="2400" dirty="0" smtClean="0">
                <a:solidFill>
                  <a:schemeClr val="tx1"/>
                </a:solidFill>
              </a:rPr>
              <a:t>created </a:t>
            </a:r>
            <a:r>
              <a:rPr lang="en-US" sz="2400" dirty="0">
                <a:solidFill>
                  <a:schemeClr val="tx1"/>
                </a:solidFill>
              </a:rPr>
              <a:t>and developed by </a:t>
            </a:r>
            <a:r>
              <a:rPr lang="en-US" sz="2400" dirty="0" smtClean="0">
                <a:solidFill>
                  <a:schemeClr val="tx1"/>
                </a:solidFill>
              </a:rPr>
              <a:t>others</a:t>
            </a:r>
            <a:r>
              <a:rPr lang="hu-HU" sz="2400" dirty="0" smtClean="0">
                <a:solidFill>
                  <a:schemeClr val="tx1"/>
                </a:solidFill>
              </a:rPr>
              <a:t>)</a:t>
            </a:r>
            <a:r>
              <a:rPr lang="en-US" sz="2400" dirty="0" smtClean="0">
                <a:solidFill>
                  <a:schemeClr val="tx1"/>
                </a:solidFill>
              </a:rPr>
              <a:t> </a:t>
            </a:r>
            <a:r>
              <a:rPr lang="en-US" sz="2400" b="1" dirty="0">
                <a:solidFill>
                  <a:srgbClr val="002060"/>
                </a:solidFill>
              </a:rPr>
              <a:t>to </a:t>
            </a:r>
            <a:r>
              <a:rPr lang="hu-HU" sz="2400" b="1" dirty="0" smtClean="0">
                <a:solidFill>
                  <a:srgbClr val="002060"/>
                </a:solidFill>
              </a:rPr>
              <a:t>build</a:t>
            </a:r>
            <a:r>
              <a:rPr lang="en-US" sz="2400" b="1" dirty="0" smtClean="0">
                <a:solidFill>
                  <a:srgbClr val="002060"/>
                </a:solidFill>
              </a:rPr>
              <a:t> </a:t>
            </a:r>
            <a:r>
              <a:rPr lang="en-US" sz="2400" b="1" dirty="0">
                <a:solidFill>
                  <a:srgbClr val="002060"/>
                </a:solidFill>
              </a:rPr>
              <a:t>our project.</a:t>
            </a:r>
            <a:endParaRPr lang="hu-HU" sz="2400" dirty="0">
              <a:solidFill>
                <a:srgbClr val="002060"/>
              </a:solidFill>
            </a:endParaRPr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911" y="802038"/>
            <a:ext cx="6940767" cy="559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342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smtClean="0"/>
              <a:t>Patrik’s work in details</a:t>
            </a:r>
            <a:endParaRPr lang="hu-HU" b="1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38150" y="1916603"/>
            <a:ext cx="9512023" cy="5311833"/>
          </a:xfrm>
        </p:spPr>
        <p:txBody>
          <a:bodyPr>
            <a:normAutofit/>
          </a:bodyPr>
          <a:lstStyle/>
          <a:p>
            <a:pPr>
              <a:spcAft>
                <a:spcPts val="1000"/>
              </a:spcAft>
            </a:pPr>
            <a:r>
              <a:rPr lang="hu-HU" sz="2400" dirty="0">
                <a:solidFill>
                  <a:schemeClr val="tx1"/>
                </a:solidFill>
              </a:rPr>
              <a:t>The REST API under HEBLE tries to follow the normalized naming convections</a:t>
            </a:r>
          </a:p>
          <a:p>
            <a:pPr>
              <a:spcAft>
                <a:spcPts val="1000"/>
              </a:spcAft>
            </a:pPr>
            <a:r>
              <a:rPr lang="hu-HU" sz="2400" dirty="0">
                <a:solidFill>
                  <a:schemeClr val="tx1"/>
                </a:solidFill>
              </a:rPr>
              <a:t>This also holds true for the folder management (utils, models, controllers, routes)</a:t>
            </a:r>
          </a:p>
          <a:p>
            <a:pPr>
              <a:spcAft>
                <a:spcPts val="1000"/>
              </a:spcAft>
            </a:pPr>
            <a:r>
              <a:rPr lang="hu-HU" sz="2400" dirty="0">
                <a:solidFill>
                  <a:schemeClr val="tx1"/>
                </a:solidFill>
              </a:rPr>
              <a:t>The inside documentations (e.g. comments) heed the basic traditions</a:t>
            </a:r>
          </a:p>
          <a:p>
            <a:pPr>
              <a:spcAft>
                <a:spcPts val="1000"/>
              </a:spcAft>
            </a:pPr>
            <a:r>
              <a:rPr lang="hu-HU" sz="2400" dirty="0">
                <a:solidFill>
                  <a:schemeClr val="tx1"/>
                </a:solidFill>
              </a:rPr>
              <a:t>The HTTP codes are managed by a different controller where a main function is found called errorHandler (might not be proper to call it a controller)</a:t>
            </a:r>
          </a:p>
          <a:p>
            <a:endParaRPr lang="hu-HU" dirty="0"/>
          </a:p>
        </p:txBody>
      </p:sp>
      <p:pic>
        <p:nvPicPr>
          <p:cNvPr id="4" name="Tartalom hely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3038" y="3405188"/>
            <a:ext cx="1858962" cy="185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858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smtClean="0"/>
              <a:t>Patrik’s work in details</a:t>
            </a:r>
            <a:endParaRPr lang="hu-HU" b="1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954069" y="2254250"/>
            <a:ext cx="5284649" cy="13551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000" b="1" dirty="0" smtClean="0">
                <a:solidFill>
                  <a:schemeClr val="tx1"/>
                </a:solidFill>
              </a:rPr>
              <a:t>Screenshots from the code</a:t>
            </a:r>
            <a:endParaRPr lang="hu-HU" sz="2000" b="1" dirty="0">
              <a:solidFill>
                <a:schemeClr val="tx1"/>
              </a:solidFill>
            </a:endParaRPr>
          </a:p>
        </p:txBody>
      </p:sp>
      <p:sp>
        <p:nvSpPr>
          <p:cNvPr id="7" name="Téglalap 6"/>
          <p:cNvSpPr/>
          <p:nvPr/>
        </p:nvSpPr>
        <p:spPr>
          <a:xfrm>
            <a:off x="5299378" y="1628775"/>
            <a:ext cx="4016071" cy="5153025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8" name="Téglalap 7"/>
          <p:cNvSpPr/>
          <p:nvPr/>
        </p:nvSpPr>
        <p:spPr>
          <a:xfrm>
            <a:off x="9806454" y="692744"/>
            <a:ext cx="1888018" cy="6079644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4" name="Téglalap 3"/>
          <p:cNvSpPr/>
          <p:nvPr/>
        </p:nvSpPr>
        <p:spPr>
          <a:xfrm>
            <a:off x="506394" y="3732566"/>
            <a:ext cx="4341831" cy="1410934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9638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Téglalap 21">
            <a:extLst>
              <a:ext uri="{FF2B5EF4-FFF2-40B4-BE49-F238E27FC236}">
                <a16:creationId xmlns:a16="http://schemas.microsoft.com/office/drawing/2014/main" id="{BFDA9692-ECDC-4B59-86B2-8C90FDE1A05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sp>
        <p:nvSpPr>
          <p:cNvPr id="24" name="Téglalap 23">
            <a:extLst>
              <a:ext uri="{FF2B5EF4-FFF2-40B4-BE49-F238E27FC236}">
                <a16:creationId xmlns:a16="http://schemas.microsoft.com/office/drawing/2014/main" id="{12C05506-42A1-49C0-9D87-081CCD9023D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B040558-A365-4CCE-92FA-5A48CD98F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1" y="5411952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hu-HU" dirty="0" smtClean="0">
                <a:solidFill>
                  <a:srgbClr val="FFFEFF"/>
                </a:solidFill>
              </a:rPr>
              <a:t>Bence’s WORK</a:t>
            </a:r>
            <a:endParaRPr lang="hu-HU" dirty="0">
              <a:solidFill>
                <a:srgbClr val="FFFEFF"/>
              </a:solidFill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7181136" y="704778"/>
            <a:ext cx="4081011" cy="3073856"/>
          </a:xfrm>
        </p:spPr>
        <p:txBody>
          <a:bodyPr/>
          <a:lstStyle/>
          <a:p>
            <a:pPr marL="0" indent="0" algn="ctr">
              <a:buNone/>
            </a:pPr>
            <a:r>
              <a:rPr lang="hu-HU" sz="3200" b="1" i="1" dirty="0" smtClean="0">
                <a:solidFill>
                  <a:schemeClr val="tx1"/>
                </a:solidFill>
              </a:rPr>
              <a:t>LOGO DESIGN</a:t>
            </a:r>
            <a:endParaRPr lang="hu-HU" sz="3200" b="1" i="1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136" y="1765774"/>
            <a:ext cx="3809524" cy="3809524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240" y="3169541"/>
            <a:ext cx="6199079" cy="1749740"/>
          </a:xfrm>
          <a:prstGeom prst="rect">
            <a:avLst/>
          </a:prstGeom>
        </p:spPr>
      </p:pic>
      <p:sp>
        <p:nvSpPr>
          <p:cNvPr id="7" name="Szövegdoboz 6"/>
          <p:cNvSpPr txBox="1"/>
          <p:nvPr/>
        </p:nvSpPr>
        <p:spPr>
          <a:xfrm>
            <a:off x="1970853" y="2549658"/>
            <a:ext cx="34814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hu-HU" sz="3200" b="1" i="1" dirty="0" smtClean="0"/>
              <a:t>BANNER DESIGN</a:t>
            </a:r>
            <a:endParaRPr lang="hu-HU" sz="3200" b="1" i="1" dirty="0"/>
          </a:p>
        </p:txBody>
      </p:sp>
      <p:sp>
        <p:nvSpPr>
          <p:cNvPr id="8" name="Szövegdoboz 7"/>
          <p:cNvSpPr txBox="1"/>
          <p:nvPr/>
        </p:nvSpPr>
        <p:spPr>
          <a:xfrm>
            <a:off x="4760190" y="596190"/>
            <a:ext cx="26661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800" b="1" dirty="0" smtClean="0"/>
              <a:t>DESIGN</a:t>
            </a:r>
            <a:endParaRPr lang="hu-HU" sz="2000" b="1" dirty="0"/>
          </a:p>
        </p:txBody>
      </p:sp>
      <p:sp>
        <p:nvSpPr>
          <p:cNvPr id="6" name="Szövegdoboz 5"/>
          <p:cNvSpPr txBox="1"/>
          <p:nvPr/>
        </p:nvSpPr>
        <p:spPr>
          <a:xfrm>
            <a:off x="778339" y="1461518"/>
            <a:ext cx="667375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>
                <a:solidFill>
                  <a:srgbClr val="002060"/>
                </a:solidFill>
              </a:rPr>
              <a:t>S</a:t>
            </a:r>
            <a:r>
              <a:rPr lang="en-US" sz="2800" b="1" dirty="0" smtClean="0">
                <a:solidFill>
                  <a:srgbClr val="002060"/>
                </a:solidFill>
              </a:rPr>
              <a:t>oftware </a:t>
            </a:r>
            <a:r>
              <a:rPr lang="en-US" sz="2800" b="1" dirty="0">
                <a:solidFill>
                  <a:srgbClr val="002060"/>
                </a:solidFill>
              </a:rPr>
              <a:t>for image design and </a:t>
            </a:r>
            <a:r>
              <a:rPr lang="en-US" sz="2800" b="1" dirty="0" smtClean="0">
                <a:solidFill>
                  <a:srgbClr val="002060"/>
                </a:solidFill>
              </a:rPr>
              <a:t>editing</a:t>
            </a:r>
            <a:r>
              <a:rPr lang="hu-HU" sz="2800" b="1" dirty="0" smtClean="0">
                <a:solidFill>
                  <a:srgbClr val="002060"/>
                </a:solidFill>
              </a:rPr>
              <a:t>:</a:t>
            </a:r>
            <a:r>
              <a:rPr lang="en-US" sz="2800" b="1" dirty="0" smtClean="0">
                <a:solidFill>
                  <a:srgbClr val="002060"/>
                </a:solidFill>
              </a:rPr>
              <a:t> </a:t>
            </a:r>
            <a:endParaRPr lang="hu-HU" sz="2800" b="1" dirty="0" smtClean="0">
              <a:solidFill>
                <a:srgbClr val="002060"/>
              </a:solidFill>
            </a:endParaRPr>
          </a:p>
          <a:p>
            <a:r>
              <a:rPr lang="hu-HU" sz="2400" dirty="0" smtClean="0">
                <a:solidFill>
                  <a:srgbClr val="002060"/>
                </a:solidFill>
              </a:rPr>
              <a:t>A</a:t>
            </a:r>
            <a:r>
              <a:rPr lang="en-US" sz="2400" dirty="0" smtClean="0">
                <a:solidFill>
                  <a:srgbClr val="002060"/>
                </a:solidFill>
              </a:rPr>
              <a:t>dobe </a:t>
            </a:r>
            <a:r>
              <a:rPr lang="hu-HU" sz="2400" dirty="0">
                <a:solidFill>
                  <a:srgbClr val="002060"/>
                </a:solidFill>
              </a:rPr>
              <a:t>P</a:t>
            </a:r>
            <a:r>
              <a:rPr lang="en-US" sz="2400" dirty="0" smtClean="0">
                <a:solidFill>
                  <a:srgbClr val="002060"/>
                </a:solidFill>
              </a:rPr>
              <a:t>hotoshop </a:t>
            </a:r>
            <a:r>
              <a:rPr lang="en-US" sz="2400" dirty="0">
                <a:solidFill>
                  <a:srgbClr val="002060"/>
                </a:solidFill>
              </a:rPr>
              <a:t>and </a:t>
            </a:r>
            <a:r>
              <a:rPr lang="hu-HU" sz="2400" dirty="0">
                <a:solidFill>
                  <a:srgbClr val="002060"/>
                </a:solidFill>
              </a:rPr>
              <a:t>C</a:t>
            </a:r>
            <a:r>
              <a:rPr lang="en-US" sz="2400" dirty="0" smtClean="0">
                <a:solidFill>
                  <a:srgbClr val="002060"/>
                </a:solidFill>
              </a:rPr>
              <a:t>anva</a:t>
            </a:r>
            <a:endParaRPr lang="en-US" sz="2400" dirty="0">
              <a:solidFill>
                <a:srgbClr val="002060"/>
              </a:solidFill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09917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Bence’s work in details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4" name="Tartalom hely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3038" y="3405188"/>
            <a:ext cx="1858962" cy="185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9546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Téglalap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pic>
        <p:nvPicPr>
          <p:cNvPr id="8" name="Tartalom helye 4" descr="Digitális számok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Csoport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588" y="1266895"/>
            <a:ext cx="7213600" cy="1121871"/>
          </a:xfrm>
        </p:spPr>
        <p:txBody>
          <a:bodyPr rtlCol="0" anchor="ctr">
            <a:noAutofit/>
          </a:bodyPr>
          <a:lstStyle/>
          <a:p>
            <a:pPr algn="ctr"/>
            <a:r>
              <a:rPr lang="hu-HU" sz="3600" b="1" dirty="0"/>
              <a:t>The further developability of the software</a:t>
            </a:r>
            <a:endParaRPr lang="hu-HU" sz="36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746613" y="2136859"/>
            <a:ext cx="6699215" cy="4038602"/>
          </a:xfrm>
        </p:spPr>
        <p:txBody>
          <a:bodyPr>
            <a:normAutofit/>
          </a:bodyPr>
          <a:lstStyle/>
          <a:p>
            <a:r>
              <a:rPr lang="hu-HU" sz="2400" b="1" dirty="0">
                <a:solidFill>
                  <a:srgbClr val="FFFF00"/>
                </a:solidFill>
              </a:rPr>
              <a:t>M</a:t>
            </a:r>
            <a:r>
              <a:rPr lang="hu-HU" sz="2400" b="1" dirty="0" smtClean="0">
                <a:solidFill>
                  <a:srgbClr val="FFFF00"/>
                </a:solidFill>
              </a:rPr>
              <a:t>ore</a:t>
            </a:r>
            <a:r>
              <a:rPr lang="hu-HU" sz="2400" b="1" dirty="0" smtClean="0">
                <a:solidFill>
                  <a:schemeClr val="bg1"/>
                </a:solidFill>
              </a:rPr>
              <a:t> free readable </a:t>
            </a:r>
            <a:r>
              <a:rPr lang="hu-HU" sz="2400" b="1" dirty="0" smtClean="0">
                <a:solidFill>
                  <a:srgbClr val="FFFF00"/>
                </a:solidFill>
              </a:rPr>
              <a:t>content</a:t>
            </a:r>
          </a:p>
          <a:p>
            <a:r>
              <a:rPr lang="hu-HU" sz="2400" b="1" dirty="0">
                <a:solidFill>
                  <a:schemeClr val="bg1"/>
                </a:solidFill>
              </a:rPr>
              <a:t>Several different </a:t>
            </a:r>
            <a:r>
              <a:rPr lang="hu-HU" sz="2400" b="1" dirty="0">
                <a:solidFill>
                  <a:srgbClr val="FFFF00"/>
                </a:solidFill>
              </a:rPr>
              <a:t>exercises, rewards </a:t>
            </a:r>
            <a:r>
              <a:rPr lang="hu-HU" sz="2400" b="1" dirty="0">
                <a:solidFill>
                  <a:schemeClr val="bg1"/>
                </a:solidFill>
              </a:rPr>
              <a:t>and </a:t>
            </a:r>
            <a:r>
              <a:rPr lang="hu-HU" sz="2400" b="1" dirty="0" smtClean="0">
                <a:solidFill>
                  <a:srgbClr val="FFFF00"/>
                </a:solidFill>
              </a:rPr>
              <a:t>achievements</a:t>
            </a:r>
          </a:p>
          <a:p>
            <a:r>
              <a:rPr lang="en-US" sz="2400" b="1" dirty="0">
                <a:solidFill>
                  <a:srgbClr val="FFFF00"/>
                </a:solidFill>
              </a:rPr>
              <a:t>Opinions</a:t>
            </a:r>
            <a:r>
              <a:rPr lang="en-US" sz="2400" b="1" dirty="0">
                <a:solidFill>
                  <a:schemeClr val="bg1"/>
                </a:solidFill>
              </a:rPr>
              <a:t> can be </a:t>
            </a:r>
            <a:r>
              <a:rPr lang="en-US" sz="2400" b="1" dirty="0">
                <a:solidFill>
                  <a:srgbClr val="FFFF00"/>
                </a:solidFill>
              </a:rPr>
              <a:t>written by users through</a:t>
            </a:r>
            <a:r>
              <a:rPr lang="en-US" sz="2400" b="1" dirty="0">
                <a:solidFill>
                  <a:schemeClr val="bg1"/>
                </a:solidFill>
              </a:rPr>
              <a:t> the </a:t>
            </a:r>
            <a:r>
              <a:rPr lang="en-US" sz="2400" b="1" dirty="0">
                <a:solidFill>
                  <a:srgbClr val="FFFF00"/>
                </a:solidFill>
              </a:rPr>
              <a:t>web application</a:t>
            </a:r>
            <a:r>
              <a:rPr lang="en-US" sz="2400" b="1" dirty="0">
                <a:solidFill>
                  <a:schemeClr val="bg1"/>
                </a:solidFill>
              </a:rPr>
              <a:t>, not by </a:t>
            </a:r>
            <a:r>
              <a:rPr lang="en-US" sz="2400" b="1" dirty="0" smtClean="0">
                <a:solidFill>
                  <a:schemeClr val="bg1"/>
                </a:solidFill>
              </a:rPr>
              <a:t>email</a:t>
            </a:r>
            <a:endParaRPr lang="hu-HU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6675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Téglalap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pic>
        <p:nvPicPr>
          <p:cNvPr id="5" name="Kép 4" descr="Digitális számok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12" name="Téglalap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01654" y="1290452"/>
            <a:ext cx="3277085" cy="2704825"/>
          </a:xfrm>
        </p:spPr>
        <p:txBody>
          <a:bodyPr rtlCol="0">
            <a:noAutofit/>
          </a:bodyPr>
          <a:lstStyle/>
          <a:p>
            <a:pPr rtl="0"/>
            <a:r>
              <a:rPr lang="hu-HU" b="1" dirty="0" smtClean="0">
                <a:solidFill>
                  <a:srgbClr val="FFFFFF"/>
                </a:solidFill>
              </a:rPr>
              <a:t>Thank </a:t>
            </a:r>
            <a:br>
              <a:rPr lang="hu-HU" b="1" dirty="0" smtClean="0">
                <a:solidFill>
                  <a:srgbClr val="FFFFFF"/>
                </a:solidFill>
              </a:rPr>
            </a:br>
            <a:r>
              <a:rPr lang="hu-HU" b="1" dirty="0" smtClean="0">
                <a:solidFill>
                  <a:srgbClr val="FFFFFF"/>
                </a:solidFill>
              </a:rPr>
              <a:t>you </a:t>
            </a:r>
            <a:br>
              <a:rPr lang="hu-HU" b="1" dirty="0" smtClean="0">
                <a:solidFill>
                  <a:srgbClr val="FFFFFF"/>
                </a:solidFill>
              </a:rPr>
            </a:br>
            <a:r>
              <a:rPr lang="hu-HU" b="1" dirty="0" smtClean="0">
                <a:solidFill>
                  <a:srgbClr val="FFFFFF"/>
                </a:solidFill>
              </a:rPr>
              <a:t>for </a:t>
            </a:r>
            <a:br>
              <a:rPr lang="hu-HU" b="1" dirty="0" smtClean="0">
                <a:solidFill>
                  <a:srgbClr val="FFFFFF"/>
                </a:solidFill>
              </a:rPr>
            </a:br>
            <a:r>
              <a:rPr lang="hu-HU" b="1" dirty="0" smtClean="0">
                <a:solidFill>
                  <a:srgbClr val="FFFFFF"/>
                </a:solidFill>
              </a:rPr>
              <a:t>your attention!</a:t>
            </a:r>
            <a:endParaRPr lang="hu-HU" b="1" dirty="0">
              <a:solidFill>
                <a:srgbClr val="FFFFFF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9CB511D-EA45-4336-847C-125266714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1295" y="4421524"/>
            <a:ext cx="3214203" cy="2629006"/>
          </a:xfrm>
        </p:spPr>
        <p:txBody>
          <a:bodyPr rtlCol="0">
            <a:normAutofit/>
          </a:bodyPr>
          <a:lstStyle/>
          <a:p>
            <a:pPr algn="ctr" rtl="0"/>
            <a:r>
              <a:rPr lang="hu-HU" sz="2400" i="1" dirty="0" smtClean="0">
                <a:solidFill>
                  <a:schemeClr val="bg2"/>
                </a:solidFill>
              </a:rPr>
              <a:t>János bence dakos</a:t>
            </a:r>
          </a:p>
          <a:p>
            <a:pPr algn="ctr" rtl="0"/>
            <a:r>
              <a:rPr lang="hu-HU" sz="2400" i="1" dirty="0" smtClean="0">
                <a:solidFill>
                  <a:schemeClr val="bg2"/>
                </a:solidFill>
              </a:rPr>
              <a:t>Gergő fodor</a:t>
            </a:r>
          </a:p>
          <a:p>
            <a:pPr algn="ctr" rtl="0"/>
            <a:r>
              <a:rPr lang="hu-HU" sz="2400" i="1" dirty="0" smtClean="0">
                <a:solidFill>
                  <a:schemeClr val="bg2"/>
                </a:solidFill>
              </a:rPr>
              <a:t>patrik ANDRÁS sedlák</a:t>
            </a:r>
          </a:p>
          <a:p>
            <a:pPr rtl="0"/>
            <a:endParaRPr lang="hu-HU" dirty="0">
              <a:solidFill>
                <a:schemeClr val="bg2"/>
              </a:solidFill>
            </a:endParaRPr>
          </a:p>
          <a:p>
            <a:pPr rtl="0"/>
            <a:endParaRPr lang="hu-HU" dirty="0">
              <a:solidFill>
                <a:schemeClr val="bg2"/>
              </a:solidFill>
            </a:endParaRPr>
          </a:p>
        </p:txBody>
      </p:sp>
      <p:grpSp>
        <p:nvGrpSpPr>
          <p:cNvPr id="14" name="Csoport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Téglalap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sztalék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EBC12AA-1C15-4500-BC9C-8EE83A441DE9}">
  <ds:schemaRefs>
    <ds:schemaRef ds:uri="71af3243-3dd4-4a8d-8c0d-dd76da1f02a5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16c05727-aa75-4e4a-9b5f-8a80a1165891"/>
    <ds:schemaRef ds:uri="http://schemas.microsoft.com/office/2006/metadata/properties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1F69AFF4-BB30-4BA0-AD22-82CC3C4327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0CF3B2-1F0F-4FC5-8002-3E4869ABAD5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Osztalék – technológiai elrendezés</Template>
  <TotalTime>0</TotalTime>
  <Words>482</Words>
  <Application>Microsoft Office PowerPoint</Application>
  <PresentationFormat>Szélesvásznú</PresentationFormat>
  <Paragraphs>76</Paragraphs>
  <Slides>17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1" baseType="lpstr">
      <vt:lpstr>Calibri</vt:lpstr>
      <vt:lpstr>Gill Sans MT</vt:lpstr>
      <vt:lpstr>Wingdings 2</vt:lpstr>
      <vt:lpstr>Osztalék</vt:lpstr>
      <vt:lpstr>School Project: HeBLE</vt:lpstr>
      <vt:lpstr>what is our project?</vt:lpstr>
      <vt:lpstr>Application Features</vt:lpstr>
      <vt:lpstr>Members of our team</vt:lpstr>
      <vt:lpstr>Technologies  Used</vt:lpstr>
      <vt:lpstr>Technologies  Used</vt:lpstr>
      <vt:lpstr>gERGŐ’s  WORK</vt:lpstr>
      <vt:lpstr>Gergő’s work in details</vt:lpstr>
      <vt:lpstr>gergő’s work in details</vt:lpstr>
      <vt:lpstr>gergő’s work in details</vt:lpstr>
      <vt:lpstr>Patrik’s  WORK</vt:lpstr>
      <vt:lpstr>Patrik’s work in details</vt:lpstr>
      <vt:lpstr>Patrik’s work in details</vt:lpstr>
      <vt:lpstr>Bence’s WORK</vt:lpstr>
      <vt:lpstr>Bence’s work in details</vt:lpstr>
      <vt:lpstr>The further developability of the software</vt:lpstr>
      <vt:lpstr>Thank  you  for 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2025-01-13T07:13:36Z</dcterms:created>
  <dcterms:modified xsi:type="dcterms:W3CDTF">2025-03-05T08:29:32Z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